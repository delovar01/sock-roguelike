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1" r:id="rId3"/>
    <p:sldId id="265" r:id="rId4"/>
    <p:sldId id="264" r:id="rId5"/>
    <p:sldId id="266" r:id="rId6"/>
    <p:sldId id="268" r:id="rId7"/>
    <p:sldId id="267" r:id="rId8"/>
    <p:sldId id="269" r:id="rId9"/>
    <p:sldId id="272" r:id="rId10"/>
    <p:sldId id="273" r:id="rId11"/>
    <p:sldId id="270" r:id="rId12"/>
    <p:sldId id="271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64F"/>
    <a:srgbClr val="4D0397"/>
    <a:srgbClr val="5603A9"/>
    <a:srgbClr val="6F04DA"/>
    <a:srgbClr val="00A4DE"/>
    <a:srgbClr val="009218"/>
    <a:srgbClr val="701800"/>
    <a:srgbClr val="681600"/>
    <a:srgbClr val="EA8B00"/>
    <a:srgbClr val="FB8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1" autoAdjust="0"/>
    <p:restoredTop sz="94660"/>
  </p:normalViewPr>
  <p:slideViewPr>
    <p:cSldViewPr snapToGrid="0">
      <p:cViewPr varScale="1">
        <p:scale>
          <a:sx n="185" d="100"/>
          <a:sy n="185" d="100"/>
        </p:scale>
        <p:origin x="8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eg"/><Relationship Id="rId4" Type="http://schemas.openxmlformats.org/officeDocument/2006/relationships/oleObject" Target="../embeddings/oleObject1.bin"/><Relationship Id="rId5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r="1"/>
          <a:stretch/>
        </p:blipFill>
        <p:spPr>
          <a:xfrm>
            <a:off x="0" y="0"/>
            <a:ext cx="12149211" cy="6858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3440414" y="393929"/>
            <a:ext cx="2229493" cy="1301015"/>
          </a:xfrm>
          <a:prstGeom prst="rect">
            <a:avLst/>
          </a:prstGeom>
        </p:spPr>
      </p:pic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629724"/>
              </p:ext>
            </p:extLst>
          </p:nvPr>
        </p:nvGraphicFramePr>
        <p:xfrm>
          <a:off x="10103851" y="440000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4" imgW="3084412" imgH="1354813" progId="CorelDraw.Graphic.22">
                  <p:embed/>
                </p:oleObj>
              </mc:Choice>
              <mc:Fallback>
                <p:oleObj name="CorelDRAW" r:id="rId4" imgW="3084412" imgH="1354813" progId="CorelDraw.Graphic.22">
                  <p:embed/>
                  <p:pic>
                    <p:nvPicPr>
                      <p:cNvPr id="18" name="Объект 1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03851" y="440000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3440414" y="2346106"/>
            <a:ext cx="7488832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altLang="ru-RU" sz="5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Носок-одиночка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3499408" y="4798350"/>
            <a:ext cx="4960525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Мини-roguelike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/>
          <a:p>
            <a:r>
              <a:rPr sz="1400"/>
              <a:t>Выполнил: Павленко Степан Андреевич</a:t>
            </a:r>
          </a:p>
          <a:p>
            <a:r>
              <a:rPr sz="1400"/>
              <a:t>Группа: РИ-150932</a:t>
            </a:r>
          </a:p>
          <a:p>
            <a:r>
              <a:rPr sz="1400"/>
              <a:t>Преподаватель: Стрельцов В. В.</a:t>
            </a:r>
          </a:p>
          <a:p/>
          <a:p>
            <a:r>
              <a:rPr sz="1400"/>
              <a:t>Екатеринбург, ИРИТ-РТФ УрФУ, 2026</a:t>
            </a:r>
          </a:p>
        </p:txBody>
      </p:sp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305449"/>
              </p:ext>
            </p:extLst>
          </p:nvPr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Жанр: top-down roguelike.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Описание: носок потерял свою пару во время стирки и провалился в лабиринт труб стиральной машины. Надо пройти 3 уровня труб и найти свою пару.</a:t>
            </a:r>
          </a:p>
          <a:p/>
          <a:p>
            <a:r>
              <a:rPr sz="1400"/>
              <a:t>Цель игрока: добраться до выхода на каждом из 3 уровней.</a:t>
            </a:r>
          </a:p>
          <a:p/>
          <a:p>
            <a:r>
              <a:rPr sz="1400"/>
              <a:t>Главное действие: перемещение по тайловой сетке, сбор пуговиц (HP), уклонение от моли.</a:t>
            </a:r>
          </a:p>
          <a:p/>
          <a:p>
            <a:r>
              <a:rPr sz="1400"/>
              <a:t>Фишка: каждый уровень генерируется заново алгоритмом BSP.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293EF-572C-7200-2803-E8F23973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Основная 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2508F-162E-E2EE-401C-C5CC093E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Описание: </a:t>
            </a:r>
            <a:r>
              <a:rPr lang="ru-RU" dirty="0" err="1"/>
              <a:t>кладывайтесь</a:t>
            </a:r>
            <a:r>
              <a:rPr lang="ru-RU" dirty="0"/>
              <a:t> в несколько предложений</a:t>
            </a:r>
          </a:p>
          <a:p>
            <a:r>
              <a:rPr lang="ru-RU" dirty="0"/>
              <a:t>Пример, что можно добавить здесь к описанию:</a:t>
            </a:r>
          </a:p>
          <a:p>
            <a:r>
              <a:rPr lang="ru-RU" dirty="0"/>
              <a:t>Жанр: платформер / стратегия / головоломка / </a:t>
            </a:r>
            <a:r>
              <a:rPr lang="ru-RU" dirty="0" err="1"/>
              <a:t>roguelike</a:t>
            </a:r>
            <a:r>
              <a:rPr lang="ru-RU" dirty="0"/>
              <a:t> / другое.</a:t>
            </a:r>
          </a:p>
          <a:p>
            <a:r>
              <a:rPr lang="ru-RU" dirty="0"/>
              <a:t>Цель игрока: что считается победой или прогрессом?</a:t>
            </a:r>
          </a:p>
          <a:p>
            <a:r>
              <a:rPr lang="ru-RU" dirty="0"/>
              <a:t>Главное действие игрока: что он делает чаще всего?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244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2F76-5A9C-D8C9-28CE-D7F5BD68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FCB8FF8-92B5-63D2-6679-687AFEBAD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F35A129-9FAC-5C5F-D1FE-6A81090AB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A99822-F949-02D9-B8BA-DE31C75DA1F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- WASD или стрелки — перемещение носка по клеткам.</a:t>
            </a:r>
            <a:endParaRPr lang="ru-RU" dirty="0">
              <a:solidFill>
                <a:srgbClr val="7030A0"/>
              </a:solidFill>
            </a:endParaRPr>
          </a:p>
          <a:p>
            <a:r>
              <a:rPr sz="1400"/>
              <a:t>- Пуговицы по уровню подбираются автоматически, восстанавливают 1 HP. Максимум 3 HP.</a:t>
            </a:r>
          </a:p>
          <a:p>
            <a:r>
              <a:rPr sz="1400"/>
              <a:t>- Враги-моль патрулируют свою комнату. Если видят игрока в радиусе 5 клеток — преследуют через A*.</a:t>
            </a:r>
          </a:p>
          <a:p>
            <a:r>
              <a:rPr sz="1400"/>
              <a:t>- При контакте с молью игрок теряет 1 HP. После удара 0.8 секунды неуязвимости.</a:t>
            </a:r>
          </a:p>
          <a:p>
            <a:r>
              <a:rPr sz="1400"/>
              <a:t>- На каждом уровне есть выход — светлая клетка. Прыг — следующий уровень.</a:t>
            </a:r>
          </a:p>
          <a:p>
            <a:r>
              <a:rPr sz="1400"/>
              <a:t>- 3 уровня. Чем дальше — тем больше врагов и предметов.</a:t>
            </a:r>
          </a:p>
          <a:p>
            <a:r>
              <a:rPr sz="1400"/>
              <a:t>- Сохранение в JSON: уровень, seed карты, HP, счётчик пуговиц.</a:t>
            </a:r>
          </a:p>
          <a:p>
            <a:r>
              <a:rPr sz="1400"/>
              <a:t>- Esc — возврат в меню, прогресс сохраняется автоматически.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1626F8-1D38-152E-F7F6-8E86648D30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77095-EC5C-C4B5-9863-1207DFD6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Игровые механики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F49C4-CDD7-EAD5-2E34-D854D894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Продолжение прошлого слайда. Описываете основные игровые фичи, которые реализуете в проекте.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34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EE61-5ADC-0CCE-37C8-97D0EEEB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F35A129-9FAC-5C5F-D1FE-6A81090ABB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A679F0-6BD3-1DB2-666D-AA1F7C51665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Функциональные:</a:t>
            </a:r>
            <a:endParaRPr lang="ru-RU" dirty="0">
              <a:solidFill>
                <a:srgbClr val="7030A0"/>
              </a:solidFill>
            </a:endParaRPr>
          </a:p>
          <a:p>
            <a:r>
              <a:rPr sz="1400"/>
              <a:t>- Главное меню с пунктами Новая игра, Продолжить, Выход.</a:t>
            </a:r>
          </a:p>
          <a:p>
            <a:r>
              <a:rPr sz="1400"/>
              <a:t>- Игровая сцена с движением, врагами, предметами.</a:t>
            </a:r>
          </a:p>
          <a:p>
            <a:r>
              <a:rPr sz="1400"/>
              <a:t>- Экраны смерти и победы.</a:t>
            </a:r>
          </a:p>
          <a:p>
            <a:r>
              <a:rPr sz="1400"/>
              <a:t>- 3 уровня с разными seed.</a:t>
            </a:r>
          </a:p>
          <a:p>
            <a:r>
              <a:rPr sz="1400"/>
              <a:t>- Сохранение и загрузка прогресса в slot1.json.</a:t>
            </a:r>
          </a:p>
          <a:p/>
          <a:p>
            <a:r>
              <a:rPr sz="1400"/>
              <a:t>Технические:</a:t>
            </a:r>
          </a:p>
          <a:p>
            <a:r>
              <a:rPr sz="1400"/>
              <a:t>- 60 FPS на ноутбуке среднего класса.</a:t>
            </a:r>
          </a:p>
          <a:p>
            <a:r>
              <a:rPr sz="1400"/>
              <a:t>- Карта 40 на 30 тайлов, тайл 32 на 32 пикселя.</a:t>
            </a:r>
          </a:p>
          <a:p>
            <a:r>
              <a:rPr sz="1400"/>
              <a:t>- До 3 врагов одновременно на уровне.</a:t>
            </a:r>
          </a:p>
          <a:p>
            <a:r>
              <a:rPr sz="1400"/>
              <a:t>- Графика — цветные прямоугольники по рекомендации методички.</a:t>
            </a:r>
          </a:p>
          <a:p/>
          <a:p>
            <a:r>
              <a:rPr sz="1400"/>
              <a:t>Критерии готовности:</a:t>
            </a:r>
          </a:p>
          <a:p>
            <a:r>
              <a:rPr sz="1400"/>
              <a:t>- pytest tests/ -v — все 24 теста зелёные.</a:t>
            </a:r>
          </a:p>
          <a:p>
            <a:r>
              <a:rPr sz="1400"/>
              <a:t>- Прохождение всех 3 уровней без вылета.</a:t>
            </a:r>
          </a:p>
          <a:p>
            <a:r>
              <a:rPr sz="1400"/>
              <a:t>- Сохранение работает между сессиями.</a:t>
            </a:r>
          </a:p>
          <a:p/>
          <a:p>
            <a:r>
              <a:rPr sz="1400"/>
              <a:t>Что осознанно не включено: спрайтовая графика, мультиплеер, несколько слотов сохранения.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5894C0-241B-5C7C-A66F-CEE1A6BF12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30D63-8051-4386-5ECF-CB3601C5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3484F-2073-B00D-0DC2-6E8AF8B51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Примеры требований:</a:t>
            </a:r>
          </a:p>
          <a:p>
            <a:pPr lvl="1"/>
            <a:r>
              <a:rPr lang="ru-RU" dirty="0"/>
              <a:t>Измеримые критерии для «успешности» проекта:</a:t>
            </a:r>
          </a:p>
          <a:p>
            <a:pPr lvl="1"/>
            <a:r>
              <a:rPr lang="ru-RU" dirty="0"/>
              <a:t>Примеры ситуаций, где реализованные алгоритмы</a:t>
            </a:r>
            <a:r>
              <a:rPr lang="en-US" dirty="0"/>
              <a:t>/</a:t>
            </a:r>
            <a:r>
              <a:rPr lang="ru-RU" dirty="0"/>
              <a:t>механики должны работать корректно</a:t>
            </a:r>
          </a:p>
          <a:p>
            <a:pPr lvl="1"/>
            <a:r>
              <a:rPr lang="ru-RU" dirty="0"/>
              <a:t>Функциональные требования: уровни, враги, предметы, интерфейс, сохранение.</a:t>
            </a:r>
          </a:p>
          <a:p>
            <a:pPr lvl="1"/>
            <a:r>
              <a:rPr lang="ru-RU" dirty="0"/>
              <a:t>Технические требования: FPS, размер карты, число объектов, формат данных, Количество уровней</a:t>
            </a:r>
            <a:r>
              <a:rPr lang="en-US" dirty="0"/>
              <a:t>/</a:t>
            </a:r>
            <a:r>
              <a:rPr lang="ru-RU" dirty="0"/>
              <a:t>квестов</a:t>
            </a:r>
            <a:r>
              <a:rPr lang="en-US" dirty="0"/>
              <a:t>/</a:t>
            </a:r>
            <a:r>
              <a:rPr lang="ru-RU" dirty="0"/>
              <a:t>механик</a:t>
            </a:r>
          </a:p>
          <a:p>
            <a:pPr lvl="1"/>
            <a:r>
              <a:rPr lang="ru-RU" dirty="0"/>
              <a:t>Критерии готовности: как проверить, что требование выполнено?</a:t>
            </a:r>
          </a:p>
          <a:p>
            <a:pPr lvl="1"/>
            <a:r>
              <a:rPr lang="ru-RU" dirty="0"/>
              <a:t>Ограничения: что осознанно не включено в проект.</a:t>
            </a:r>
          </a:p>
          <a:p>
            <a:pPr marL="457200" lvl="1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Требования ставите сами себе при планировании проекта</a:t>
            </a:r>
          </a:p>
          <a:p>
            <a:r>
              <a:rPr lang="ru-RU" dirty="0"/>
              <a:t>Требования определяют, какие алгоритмы и архитектуру вы используете.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21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52255-3F4F-34F6-FF63-9E9EE34C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FA781BD-0E50-F689-1C99-F7DD3A0E9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CFCB8FF8-92B5-63D2-6679-687AFEBAD5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C66736-B908-7604-DCF8-3A5D8197945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Используется MVC-подобный подход с разделением на системы.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Компоненты:</a:t>
            </a:r>
          </a:p>
          <a:p>
            <a:r>
              <a:rPr sz="1400"/>
              <a:t>- Game — главный объект, держит цикл и активную сцену.</a:t>
            </a:r>
          </a:p>
          <a:p>
            <a:r>
              <a:rPr sz="1400"/>
              <a:t>- Scene Manager — переключение сцен через FSM: Menu, Game, Death, Win.</a:t>
            </a:r>
          </a:p>
          <a:p>
            <a:r>
              <a:rPr sz="1400"/>
              <a:t>- Entity (ABC) — базовый класс для Player, Enemy, Item.</a:t>
            </a:r>
          </a:p>
          <a:p>
            <a:r>
              <a:rPr sz="1400"/>
              <a:t>- Системы: Movement, Collision, AI, Render — каждая отвечает за одно.</a:t>
            </a:r>
          </a:p>
          <a:p>
            <a:r>
              <a:rPr sz="1400"/>
              <a:t>- Renderer и UI — выводят состояние модели на экран.</a:t>
            </a:r>
          </a:p>
          <a:p>
            <a:r>
              <a:rPr sz="1400"/>
              <a:t>- Input Manager — обработка клавиатуры.</a:t>
            </a:r>
          </a:p>
          <a:p>
            <a:r>
              <a:rPr sz="1400"/>
              <a:t>- Resource Manager — кеш звуков и шрифтов.</a:t>
            </a:r>
          </a:p>
          <a:p>
            <a:r>
              <a:rPr sz="1400"/>
              <a:t>- Event Bus — паттерн Observer для слабой связи: player_died, item_picked, level_completed.</a:t>
            </a:r>
          </a:p>
          <a:p/>
          <a:p>
            <a:r>
              <a:rPr sz="1400"/>
              <a:t>Почему так: без разделения получился бы God Object Game на 2000 строк. Это типичная ошибка из методички.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854CE2-6A4C-E602-B410-D63168E8B94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A5246-CC82-FC30-856D-EB3D123B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Архитектура. Общий обзор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C2B48-41A4-EC75-580C-AC098442A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Какая архитектура используется в игре. Почему именно она, а не другие?</a:t>
            </a:r>
          </a:p>
          <a:p>
            <a:r>
              <a:rPr lang="ru-RU" dirty="0"/>
              <a:t>Ключевые компоненты: Game, </a:t>
            </a:r>
            <a:r>
              <a:rPr lang="ru-RU" dirty="0" err="1"/>
              <a:t>Scene</a:t>
            </a:r>
            <a:r>
              <a:rPr lang="ru-RU" dirty="0"/>
              <a:t>/State, </a:t>
            </a:r>
            <a:r>
              <a:rPr lang="ru-RU" dirty="0" err="1"/>
              <a:t>Entity</a:t>
            </a:r>
            <a:r>
              <a:rPr lang="ru-RU" dirty="0"/>
              <a:t>, System/Manager, </a:t>
            </a:r>
            <a:r>
              <a:rPr lang="ru-RU" dirty="0" err="1"/>
              <a:t>Renderer</a:t>
            </a:r>
            <a:r>
              <a:rPr lang="ru-RU" dirty="0"/>
              <a:t>, </a:t>
            </a:r>
            <a:r>
              <a:rPr lang="ru-RU" dirty="0" err="1"/>
              <a:t>Input</a:t>
            </a:r>
            <a:r>
              <a:rPr lang="ru-RU" dirty="0"/>
              <a:t>, Resources.</a:t>
            </a:r>
          </a:p>
          <a:p>
            <a:r>
              <a:rPr lang="ru-RU" dirty="0"/>
              <a:t>Ответственность компонентов: кто хранит данные, кто меняет состояние, кто рисует.</a:t>
            </a:r>
          </a:p>
          <a:p>
            <a:r>
              <a:rPr lang="ru-RU" dirty="0"/>
              <a:t>Почему эта архитектура удобна именно для вашей игры?</a:t>
            </a:r>
          </a:p>
          <a:p>
            <a:r>
              <a:rPr lang="ru-RU" dirty="0"/>
              <a:t>Вставьте C4/UML схему</a:t>
            </a:r>
            <a:r>
              <a:rPr lang="en-US" dirty="0"/>
              <a:t>/</a:t>
            </a:r>
            <a:r>
              <a:rPr lang="ru-RU" dirty="0"/>
              <a:t>схемы компонентов. Можно на несколько слайдов.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634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9B2D4-A8EB-9580-233D-F445FE0D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9626BCC6-EAF0-EC4C-C799-798976F0F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4097C8D-6A62-ACE3-097B-27087E8D0F1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8 пакетов в src/:</a:t>
            </a:r>
            <a:endParaRPr lang="ru-RU" dirty="0">
              <a:solidFill>
                <a:srgbClr val="7030A0"/>
              </a:solidFill>
            </a:endParaRPr>
          </a:p>
          <a:p>
            <a:r>
              <a:rPr sz="1400"/>
              <a:t>- core/ — game, event_bus, input_manager, resource_manager, constants</a:t>
            </a:r>
          </a:p>
          <a:p>
            <a:r>
              <a:rPr sz="1400"/>
              <a:t>- scenes/ — base_scene (ABC), menu, game, death, win</a:t>
            </a:r>
          </a:p>
          <a:p>
            <a:r>
              <a:rPr sz="1400"/>
              <a:t>- entities/ — entity (ABC), player, enemy, item</a:t>
            </a:r>
          </a:p>
          <a:p>
            <a:r>
              <a:rPr sz="1400"/>
              <a:t>- systems/ — movement, collision, ai, render</a:t>
            </a:r>
          </a:p>
          <a:p>
            <a:r>
              <a:rPr sz="1400"/>
              <a:t>- algorithms/ — bsp_dungeon, a_star</a:t>
            </a:r>
          </a:p>
          <a:p>
            <a:r>
              <a:rPr sz="1400"/>
              <a:t>- world/ — tile, level, camera</a:t>
            </a:r>
          </a:p>
          <a:p>
            <a:r>
              <a:rPr sz="1400"/>
              <a:t>- ui/ — menu, hud</a:t>
            </a:r>
          </a:p>
          <a:p>
            <a:r>
              <a:rPr sz="1400"/>
              <a:t>- persistence/ — save_manager (JSON)</a:t>
            </a:r>
          </a:p>
          <a:p/>
          <a:p>
            <a:r>
              <a:rPr sz="1400"/>
              <a:t>Плюс: tests/ (24 теста pytest), docs/ (architecture.md, algorithms.md, UML), assets/ (звуки, intro.txt), levels/, saves/.</a:t>
            </a:r>
          </a:p>
          <a:p/>
          <a:p>
            <a:r>
              <a:rPr sz="1400"/>
              <a:t>UML диаграмма классов и FSM врага — в docs/diagrams/.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4913DE-E977-804E-2320-58743AB818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4C7D7-B27A-6AA8-5443-3FCCB2FA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Архитектура. Структура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A4550-C5C9-D41E-CAB2-0898A9FC0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Диаграммы вашей архитектуры.</a:t>
            </a:r>
          </a:p>
          <a:p>
            <a:r>
              <a:rPr lang="ru-RU" dirty="0"/>
              <a:t>К примеру:</a:t>
            </a:r>
          </a:p>
          <a:p>
            <a:r>
              <a:rPr lang="ru-RU" dirty="0"/>
              <a:t>Диаграмма компонентов, классов, игровых систем, сцен, </a:t>
            </a:r>
            <a:r>
              <a:rPr lang="en-US" dirty="0"/>
              <a:t>AI </a:t>
            </a:r>
            <a:r>
              <a:rPr lang="ru-RU" dirty="0"/>
              <a:t>поведения, конечных автоматов, клиент-серверного взаимодействия и т.д.</a:t>
            </a:r>
          </a:p>
          <a:p>
            <a:r>
              <a:rPr lang="ru-RU" dirty="0"/>
              <a:t>Структура папок: </a:t>
            </a:r>
            <a:r>
              <a:rPr lang="ru-RU" dirty="0" err="1"/>
              <a:t>src</a:t>
            </a:r>
            <a:r>
              <a:rPr lang="ru-RU" dirty="0"/>
              <a:t>/, </a:t>
            </a:r>
            <a:r>
              <a:rPr lang="ru-RU" dirty="0" err="1"/>
              <a:t>assets</a:t>
            </a:r>
            <a:r>
              <a:rPr lang="ru-RU" dirty="0"/>
              <a:t>/, </a:t>
            </a:r>
            <a:r>
              <a:rPr lang="ru-RU" dirty="0" err="1"/>
              <a:t>levels</a:t>
            </a:r>
            <a:r>
              <a:rPr lang="ru-RU" dirty="0"/>
              <a:t>/, </a:t>
            </a:r>
            <a:r>
              <a:rPr lang="ru-RU" dirty="0" err="1"/>
              <a:t>tests</a:t>
            </a:r>
            <a:r>
              <a:rPr lang="ru-RU" dirty="0"/>
              <a:t>/, </a:t>
            </a:r>
            <a:r>
              <a:rPr lang="ru-RU" dirty="0" err="1"/>
              <a:t>docs</a:t>
            </a:r>
            <a:r>
              <a:rPr lang="ru-RU" dirty="0"/>
              <a:t>/ и назначение каждой части.</a:t>
            </a:r>
          </a:p>
          <a:p>
            <a:r>
              <a:rPr lang="ru-RU" dirty="0"/>
              <a:t>Основные классы или </a:t>
            </a:r>
            <a:r>
              <a:rPr lang="ru-RU" dirty="0" err="1"/>
              <a:t>dataclass</a:t>
            </a:r>
            <a:r>
              <a:rPr lang="ru-RU" dirty="0"/>
              <a:t>-структуры: какие данные они инкапсулируют.</a:t>
            </a:r>
          </a:p>
          <a:p>
            <a:r>
              <a:rPr lang="ru-RU" dirty="0"/>
              <a:t>Связи между модулями: импорт, </a:t>
            </a:r>
            <a:r>
              <a:rPr lang="ru-RU" dirty="0" err="1"/>
              <a:t>событи</a:t>
            </a:r>
            <a:r>
              <a:rPr lang="ru-RU" dirty="0"/>
              <a:t>, общие интерфейсы.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Набор зависит от проекта и содержания. Расположите на нескольких слайдах при необходимости.</a:t>
            </a:r>
          </a:p>
          <a:p>
            <a:r>
              <a:rPr lang="en-US" dirty="0"/>
              <a:t>C4</a:t>
            </a:r>
            <a:r>
              <a:rPr lang="ru-RU" dirty="0"/>
              <a:t> для </a:t>
            </a:r>
            <a:r>
              <a:rPr lang="ru-RU" dirty="0" err="1"/>
              <a:t>высокоуровнего</a:t>
            </a:r>
            <a:r>
              <a:rPr lang="ru-RU" dirty="0"/>
              <a:t> обзора</a:t>
            </a:r>
            <a:r>
              <a:rPr lang="en-US" dirty="0"/>
              <a:t>, UML</a:t>
            </a:r>
            <a:r>
              <a:rPr lang="ru-RU" dirty="0"/>
              <a:t> для более конкретного.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83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979E-5339-F9BD-363A-E5F237C6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EC5BE12-4B18-A41C-B320-790F62769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F6FE215-7872-131B-1412-4F663C1C19C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Зачем в проекте: для roguelike нужны разные уровни при каждом прохождении. BSP даёт комнатное подземелье с коридорами — как в Binding of Isaac.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Где реализован: src/algorithms/bsp_dungeon.py. Вызывается из GameScene при старте уровня.</a:t>
            </a:r>
          </a:p>
          <a:p/>
          <a:p>
            <a:r>
              <a:rPr sz="1400"/>
              <a:t>Этапы:</a:t>
            </a:r>
          </a:p>
          <a:p>
            <a:r>
              <a:rPr sz="1400"/>
              <a:t>1. split_node — рекурсивное разбиение прямоугольника пополам, пока не достигнут BSP_MIN_LEAF_SIZE.</a:t>
            </a:r>
          </a:p>
          <a:p>
            <a:r>
              <a:rPr sz="1400"/>
              <a:t>2. fill_rooms — в каждом листе размещаем комнату случайного размера с отступами.</a:t>
            </a:r>
          </a:p>
          <a:p>
            <a:r>
              <a:rPr sz="1400"/>
              <a:t>3. carve_rooms_to_grid — переносим комнаты на сетку как пол.</a:t>
            </a:r>
          </a:p>
          <a:p>
            <a:r>
              <a:rPr sz="1400"/>
              <a:t>4. connect_rooms — снизу вверх по дереву соединяем комнаты пары поддеревьев L-образными коридорами.</a:t>
            </a:r>
          </a:p>
          <a:p/>
          <a:p>
            <a:r>
              <a:rPr sz="1400"/>
              <a:t>Вход: width, height, seed.</a:t>
            </a:r>
          </a:p>
          <a:p>
            <a:r>
              <a:rPr sz="1400"/>
              <a:t>Выход: двумерная сетка TileType (WALL/FLOOR/EXIT), позиции входа и выхода.</a:t>
            </a:r>
          </a:p>
          <a:p/>
          <a:p>
            <a:r>
              <a:rPr sz="1400"/>
              <a:t>Сложность: O(n) по числу клеток, n = width * height.</a:t>
            </a:r>
          </a:p>
          <a:p/>
          <a:p>
            <a:r>
              <a:rPr sz="1400"/>
              <a:t>Детерминизм: один и тот же seed — одна и та же карта. Используется для сохранений.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153B6A-31B2-DD4D-78A2-EFDF5D012E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902C8-6F66-9532-62EA-4CADE0EF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Алгоритмы. BSP-генерация подземелья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8F4FD9-0BE5-2D0C-408F-4DE8EEEA1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Первый алгоритм. </a:t>
            </a:r>
          </a:p>
          <a:p>
            <a:r>
              <a:rPr lang="ru-RU" dirty="0"/>
              <a:t>Зачем в проекте?</a:t>
            </a:r>
          </a:p>
          <a:p>
            <a:r>
              <a:rPr lang="ru-RU" dirty="0"/>
              <a:t>Как реализован в проекте: где находится в коде, как он интегрирован в игровой цикл, архитектуру</a:t>
            </a:r>
          </a:p>
          <a:p>
            <a:r>
              <a:rPr lang="ru-RU" dirty="0"/>
              <a:t>Входные данные: карта, граф, список объектов, состояние врага и т.д.</a:t>
            </a:r>
          </a:p>
          <a:p>
            <a:r>
              <a:rPr lang="ru-RU" dirty="0"/>
              <a:t>Выходные данные: путь, действие AI, новая карта, набор столкновений, событие </a:t>
            </a:r>
          </a:p>
          <a:p>
            <a:r>
              <a:rPr lang="ru-RU" dirty="0"/>
              <a:t>Сложность по времени/памяти: O(...), ограничения и худшие случаи.</a:t>
            </a:r>
          </a:p>
          <a:p>
            <a:r>
              <a:rPr lang="ru-RU" dirty="0"/>
              <a:t>Фрагмент кода или псевдокод + результат на скриншоте.</a:t>
            </a:r>
          </a:p>
          <a:p>
            <a:endParaRPr lang="ru-RU" dirty="0"/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01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5BB3-6308-F18C-D1C9-0AED2489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483546A7-C5DA-4D41-9102-2391DC4E0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EC5BE12-4B18-A41C-B320-790F62769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D02CE3-C66A-36A6-533E-6AC8F4BB8D2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Зачем в проекте: моль должна догонять игрока кратчайшим путём, обходя стены.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Почему не Дейкстра: Дейкстра расширяет волну во все стороны равномерно, расточительно когда нужен путь до одной цели. A* добавляет эвристику h (манхэттенское расстояние) и направляет волну к цели. f = g + h.</a:t>
            </a:r>
          </a:p>
          <a:p/>
          <a:p>
            <a:r>
              <a:rPr sz="1400"/>
              <a:t>Где реализован: src/algorithms/a_star.py. Используется в src/systems/ai_system.py, вызывается раз в 0.25 секунды.</a:t>
            </a:r>
          </a:p>
          <a:p/>
          <a:p>
            <a:r>
              <a:rPr sz="1400"/>
              <a:t>Вход: уровень с методом is_walkable, стартовый тайл, целевой тайл.</a:t>
            </a:r>
          </a:p>
          <a:p>
            <a:r>
              <a:rPr sz="1400"/>
              <a:t>Выход: список тайлов пути без стартового, или пустой список если пути нет.</a:t>
            </a:r>
          </a:p>
          <a:p/>
          <a:p>
            <a:r>
              <a:rPr sz="1400"/>
              <a:t>Сложность: O(E log V), где V — клетки сетки, E — переходы. На сетке 40x30 — около 1200 вершин.</a:t>
            </a:r>
          </a:p>
          <a:p/>
          <a:p>
            <a:r>
              <a:rPr sz="1400"/>
              <a:t>Худший случай: цель недостижима — исследуем всю связную компоненту и возвращаем пустой список.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07BF34-7405-5880-1BAF-F8683812E7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D9277-088B-B16D-16D5-BD90F244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Алгоритмы. A* поиск пути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3467CB-2E61-E50E-D9FE-0F1D6770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ru-RU" dirty="0"/>
              <a:t>Второй алгоритм. </a:t>
            </a:r>
          </a:p>
          <a:p>
            <a:r>
              <a:rPr lang="ru-RU" dirty="0"/>
              <a:t>Зачем в проекте?</a:t>
            </a:r>
          </a:p>
          <a:p>
            <a:r>
              <a:rPr lang="ru-RU" dirty="0"/>
              <a:t>Как реализован в проекте: где находится в коде, как он интегрирован в игровой цикл, архитектуру</a:t>
            </a:r>
          </a:p>
          <a:p>
            <a:r>
              <a:rPr lang="ru-RU" dirty="0"/>
              <a:t>Входные данные: карта, граф, список объектов, состояние врага и т.д.</a:t>
            </a:r>
          </a:p>
          <a:p>
            <a:r>
              <a:rPr lang="ru-RU" dirty="0"/>
              <a:t>Выходные данные: путь, действие AI, новая карта, набор столкновений, событие </a:t>
            </a:r>
          </a:p>
          <a:p>
            <a:r>
              <a:rPr lang="ru-RU" dirty="0"/>
              <a:t>Сложность по времени/памяти: O(...), ограничения и худшие случаи.</a:t>
            </a:r>
          </a:p>
          <a:p>
            <a:r>
              <a:rPr lang="ru-RU" dirty="0"/>
              <a:t>Фрагмент кода или псевдокод + результат на скриншоте</a:t>
            </a:r>
          </a:p>
        </p:txBody>
      </p:sp>
    </p:spTree>
    <p:extLst>
      <p:ext uri="{BB962C8B-B14F-4D97-AF65-F5344CB8AC3E}">
        <p14:creationId xmlns:p14="http://schemas.microsoft.com/office/powerpoint/2010/main" val="241696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EED6-D0B8-D5CD-082A-8722BAB2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E090C4F-2E47-D1A8-EF05-DBE850FBF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BDE051-C0CB-1C98-140F-5C8DF0E2D64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Зачем в проекте: организовать поведение моли без if-else спагетти. Три состояния, четыре правила переходов.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Состояния (EnemyState):</a:t>
            </a:r>
          </a:p>
          <a:p>
            <a:r>
              <a:rPr sz="1400"/>
              <a:t>- PATROL — ходит между двумя waypoints (углы своей комнаты).</a:t>
            </a:r>
          </a:p>
          <a:p>
            <a:r>
              <a:rPr sz="1400"/>
              <a:t>- CHASE — идёт по пути от A* к игроку.</a:t>
            </a:r>
          </a:p>
          <a:p>
            <a:r>
              <a:rPr sz="1400"/>
              <a:t>- RETURN — возвращается к ближайшему waypoint.</a:t>
            </a:r>
          </a:p>
          <a:p/>
          <a:p>
            <a:r>
              <a:rPr sz="1400"/>
              <a:t>Переходы:</a:t>
            </a:r>
          </a:p>
          <a:p>
            <a:r>
              <a:rPr sz="1400"/>
              <a:t>- PATROL → CHASE: расстояние до игрока меньше или равно 5 тайлов.</a:t>
            </a:r>
          </a:p>
          <a:p>
            <a:r>
              <a:rPr sz="1400"/>
              <a:t>- CHASE → RETURN: расстояние больше 8 тайлов.</a:t>
            </a:r>
          </a:p>
          <a:p>
            <a:r>
              <a:rPr sz="1400"/>
              <a:t>- RETURN → PATROL: достиг waypoint.</a:t>
            </a:r>
          </a:p>
          <a:p/>
          <a:p>
            <a:r>
              <a:rPr sz="1400"/>
              <a:t>Гистерезис: радиусы детекции (5) и потери (8) разные специально — иначе моль дёргалась бы между состояниями на границе.</a:t>
            </a:r>
          </a:p>
          <a:p/>
          <a:p>
            <a:r>
              <a:rPr sz="1400"/>
              <a:t>Сложность: O(1) на обновление. A* в Chase — раз в 0.25 секунды, не каждый кадр.</a:t>
            </a:r>
          </a:p>
          <a:p/>
          <a:p>
            <a:r>
              <a:rPr sz="1400"/>
              <a:t>Диаграмма переходов: docs/diagrams/uml_fsm.png.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962C45-51B6-894A-B9BD-1ABCA4305B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FD9C1-9E41-AE05-D8F0-204A5273E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Алгоритмы. Конечный автомат врага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CF49F-3DE2-96F7-3CB5-21C21A7E0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Другие алгоритмы по схожей схеме</a:t>
            </a:r>
          </a:p>
        </p:txBody>
      </p:sp>
    </p:spTree>
    <p:extLst>
      <p:ext uri="{BB962C8B-B14F-4D97-AF65-F5344CB8AC3E}">
        <p14:creationId xmlns:p14="http://schemas.microsoft.com/office/powerpoint/2010/main" val="32646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644A-F5BC-A5C6-0EA7-46CE1524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EDC60564-F4BE-5F52-DF5A-F58C422C64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E090C4F-2E47-D1A8-EF05-DBE850FBF8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D86D2AF-E848-0A55-4FFE-D1DFCB79BB6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Тестов: 24 в 8 файлах. Время — около 1 секунды.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Запуск: pytest tests/ -v</a:t>
            </a:r>
          </a:p>
          <a:p/>
          <a:p>
            <a:r>
              <a:rPr sz="1400"/>
              <a:t>Что покрыто:</a:t>
            </a:r>
          </a:p>
          <a:p>
            <a:r>
              <a:rPr sz="1400"/>
              <a:t>- test_bsp.py (4 теста): размер сетки, детерминизм по seed, связность пола (flood fill), минимальный размер комнат.</a:t>
            </a:r>
          </a:p>
          <a:p>
            <a:r>
              <a:rPr sz="1400"/>
              <a:t>- test_a_star.py (4 теста): прямой путь, обход стены, недостижимая цель, эвристика.</a:t>
            </a:r>
          </a:p>
          <a:p>
            <a:r>
              <a:rPr sz="1400"/>
              <a:t>- test_collision.py (3 теста): блокировка стеной, подбор предмета, AABB.</a:t>
            </a:r>
          </a:p>
          <a:p>
            <a:r>
              <a:rPr sz="1400"/>
              <a:t>- test_save_manager.py (3 теста): save→load round-trip, отсутствующий файл, создание файла.</a:t>
            </a:r>
          </a:p>
          <a:p>
            <a:r>
              <a:rPr sz="1400"/>
              <a:t>- test_player.py (3 теста): take_damage, ограничение HP снизу, hp read-only property.</a:t>
            </a:r>
          </a:p>
          <a:p>
            <a:r>
              <a:rPr sz="1400"/>
              <a:t>- test_fsm.py (3 теста): начальное состояние, переход в Chase, переход в Return.</a:t>
            </a:r>
          </a:p>
          <a:p>
            <a:r>
              <a:rPr sz="1400"/>
              <a:t>- test_level.py (2 теста): стена не walkable, выход за границы возвращает стену.</a:t>
            </a:r>
          </a:p>
          <a:p>
            <a:r>
              <a:rPr sz="1400"/>
              <a:t>- test_constants.py (2 теста): положительные размеры, делимость на TILE_SIZE.</a:t>
            </a:r>
          </a:p>
          <a:p/>
          <a:p>
            <a:r>
              <a:rPr sz="1400"/>
              <a:t>Что не тестируется: рендеринг (только визуально), pygame события (интеграционно).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B9400B-51BC-1223-A981-1E4D53765E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1CE5C-AC8B-0A3A-4D0D-212A07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19954-C002-A155-84FB-D478D2F64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Что тестировалось и как. Статистика по тестам.</a:t>
            </a:r>
          </a:p>
        </p:txBody>
      </p:sp>
    </p:spTree>
    <p:extLst>
      <p:ext uri="{BB962C8B-B14F-4D97-AF65-F5344CB8AC3E}">
        <p14:creationId xmlns:p14="http://schemas.microsoft.com/office/powerpoint/2010/main" val="396108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61554-D17B-1FA6-E9DD-A9CC3F14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2B2166BC-B661-48DF-CF5E-1A7C34C4A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337E39-69E8-924A-9D20-00419796C7A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Язык:</a:t>
            </a:r>
            <a:endParaRPr lang="ru-RU" dirty="0">
              <a:solidFill>
                <a:srgbClr val="7030A0"/>
              </a:solidFill>
            </a:endParaRPr>
          </a:p>
          <a:p>
            <a:r>
              <a:rPr sz="1400"/>
              <a:t>- Python 3.12</a:t>
            </a:r>
          </a:p>
          <a:p/>
          <a:p>
            <a:r>
              <a:rPr sz="1400"/>
              <a:t>Внешние библиотеки:</a:t>
            </a:r>
          </a:p>
          <a:p>
            <a:r>
              <a:rPr sz="1400"/>
              <a:t>- pygame 2.5.2 — графика, ввод, звук.</a:t>
            </a:r>
          </a:p>
          <a:p>
            <a:r>
              <a:rPr sz="1400"/>
              <a:t>- pytest 8.0 — тесты.</a:t>
            </a:r>
          </a:p>
          <a:p/>
          <a:p>
            <a:r>
              <a:rPr sz="1400"/>
              <a:t>Инструменты:</a:t>
            </a:r>
          </a:p>
          <a:p>
            <a:r>
              <a:rPr sz="1400"/>
              <a:t>- Git и GitHub — контроль версий.</a:t>
            </a:r>
          </a:p>
          <a:p>
            <a:r>
              <a:rPr sz="1400"/>
              <a:t>- VS Code — среда разработки.</a:t>
            </a:r>
          </a:p>
          <a:p/>
          <a:p>
            <a:r>
              <a:rPr sz="1400"/>
              <a:t>Стандартная библиотека Python:</a:t>
            </a:r>
          </a:p>
          <a:p>
            <a:r>
              <a:rPr sz="1400"/>
              <a:t>- json — сохранения.</a:t>
            </a:r>
          </a:p>
          <a:p>
            <a:r>
              <a:rPr sz="1400"/>
              <a:t>- random.Random — детерминированный генератор для BSP.</a:t>
            </a:r>
          </a:p>
          <a:p>
            <a:r>
              <a:rPr sz="1400"/>
              <a:t>- heapq — приоритетная очередь для A*.</a:t>
            </a:r>
          </a:p>
          <a:p>
            <a:r>
              <a:rPr sz="1400"/>
              <a:t>- pathlib — кросс-платформенные пути.</a:t>
            </a:r>
          </a:p>
          <a:p>
            <a:r>
              <a:rPr sz="1400"/>
              <a:t>- enum — типы тайлов и состояний врагов.</a:t>
            </a:r>
          </a:p>
          <a:p>
            <a:r>
              <a:rPr sz="1400"/>
              <a:t>- abc — абстрактные базовые классы.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A02D85-4A69-5F54-F4EC-3E4695B576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064E9-C144-FCDC-5144-3B556B48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389F02-A522-3420-4DA1-75B659C76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Использованные инструменты, ЯП, библиотеки и т.д.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208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DB5F-4704-1D5F-F383-245676E2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20ED58C-1B95-1444-E59E-4F718F570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2B2166BC-B661-48DF-CF5E-1A7C34C4A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F701D7-28D9-8D28-BD2B-E6B31B944360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31 коммит за месяц с 25 апреля по 25 мая 2026 года.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Репозиторий: https://github.com/delovar01/sock-roguelike</a:t>
            </a:r>
          </a:p>
          <a:p/>
          <a:p>
            <a:r>
              <a:rPr sz="1400"/>
              <a:t>Сложности по дороге:</a:t>
            </a:r>
          </a:p>
          <a:p>
            <a:r>
              <a:rPr sz="1400"/>
              <a:t>- Неделя ушла на BSP (4-7 мая). Самое тяжёлое — соединение комнат коридорами. Пробовал прямые, потом перешёл на L-образные.</a:t>
            </a:r>
          </a:p>
          <a:p>
            <a:r>
              <a:rPr sz="1400"/>
              <a:t>- A* пришлось переписывать (11-12 мая). Первая версия телепортировала врага из-за путаницы с тайл-координатами, в итоге сделал revert и переписал.</a:t>
            </a:r>
          </a:p>
          <a:p>
            <a:r>
              <a:rPr sz="1400"/>
              <a:t>- Камеру добавил позже остальных систем (18 мая) — поначалу карта помещалась на экран, потом увеличил и пришлось делать.</a:t>
            </a:r>
          </a:p>
          <a:p/>
          <a:p>
            <a:r>
              <a:rPr sz="1400"/>
              <a:t>Скриншот git log и Contributions graph — приложить рядом.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6B09C8-2C4E-42FC-CFD9-8F5D670206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392EF-D1E2-FF9F-F559-6E0E94F1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История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2B7E19-8852-C547-C06C-C5EF1EB4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Скриншот истории </a:t>
            </a:r>
            <a:r>
              <a:rPr lang="en-US" dirty="0"/>
              <a:t>Git</a:t>
            </a:r>
            <a:r>
              <a:rPr lang="ru-RU" dirty="0"/>
              <a:t>-репозитория, к примеру.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6049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1D69-3770-9DB1-AF50-974FDD3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F95793C-B0D0-BD90-D14B-43EB4571E0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566457" imgH="894201" progId="CorelDraw.Graphic.22">
                  <p:embed/>
                </p:oleObj>
              </mc:Choice>
              <mc:Fallback>
                <p:oleObj name="CorelDRAW" r:id="rId2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20ED58C-1B95-1444-E59E-4F718F570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870481-8EA5-E810-1375-2B0AB19EC07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Репозиторий: https://github.com/delovar01/sock-roguelike</a:t>
            </a:r>
            <a:endParaRPr lang="ru-RU" dirty="0">
              <a:solidFill>
                <a:srgbClr val="7030A0"/>
              </a:solidFill>
            </a:endParaRPr>
          </a:p>
          <a:p/>
          <a:p>
            <a:r>
              <a:rPr sz="1400"/>
              <a:t>Запуск:</a:t>
            </a:r>
          </a:p>
          <a:p>
            <a:r>
              <a:rPr sz="1400"/>
              <a:t>  python -m venv venv</a:t>
            </a:r>
          </a:p>
          <a:p>
            <a:r>
              <a:rPr sz="1400"/>
              <a:t>  venv\Scripts\activate</a:t>
            </a:r>
          </a:p>
          <a:p>
            <a:r>
              <a:rPr sz="1400"/>
              <a:t>  pip install -r requirements.txt</a:t>
            </a:r>
          </a:p>
          <a:p>
            <a:r>
              <a:rPr sz="1400"/>
              <a:t>  python main.py</a:t>
            </a:r>
          </a:p>
          <a:p/>
          <a:p>
            <a:r>
              <a:rPr sz="1400"/>
              <a:t>Что показывается на скриншотах:</a:t>
            </a:r>
          </a:p>
          <a:p>
            <a:r>
              <a:rPr sz="1400"/>
              <a:t>- Главное меню с сюжетным интро.</a:t>
            </a:r>
          </a:p>
          <a:p>
            <a:r>
              <a:rPr sz="1400"/>
              <a:t>- Игровая сцена: носок ходит по подземелью, моль преследует, пуговицы подбираются.</a:t>
            </a:r>
          </a:p>
          <a:p>
            <a:r>
              <a:rPr sz="1400"/>
              <a:t>- Debug-режим (F3) — путь A* отрисован красными точками.</a:t>
            </a:r>
          </a:p>
          <a:p>
            <a:r>
              <a:rPr sz="1400"/>
              <a:t>- Экран победы после прохождения 3 уровня.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6CAC4E-8BD5-FBE8-4488-868A589E6B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1AB82-87E4-79ED-5AF3-CAD0CB17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Демонстрация результатов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3CD893-4888-43D2-469E-019C12E53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Можно ссылку на видео, либо набор скриншотов разных моментов, механик,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402487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1936</TotalTime>
  <Words>561</Words>
  <Application>Microsoft Office PowerPoint</Application>
  <PresentationFormat>Широкоэкранный</PresentationFormat>
  <Paragraphs>76</Paragraphs>
  <Slides>13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CorelDRAW</vt:lpstr>
      <vt:lpstr>Презентация PowerPoint</vt:lpstr>
      <vt:lpstr>Основная идея</vt:lpstr>
      <vt:lpstr>Игровые механики</vt:lpstr>
      <vt:lpstr>Требования</vt:lpstr>
      <vt:lpstr>Архитектура проекта. Общий обзор</vt:lpstr>
      <vt:lpstr>Архитектура проекта</vt:lpstr>
      <vt:lpstr>Алгоритмы</vt:lpstr>
      <vt:lpstr>Алгоритмы</vt:lpstr>
      <vt:lpstr>Алгоритмы</vt:lpstr>
      <vt:lpstr>Тестирование </vt:lpstr>
      <vt:lpstr>Стек технологий</vt:lpstr>
      <vt:lpstr>История разработки</vt:lpstr>
      <vt:lpstr>Демонстрация результатов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User</cp:lastModifiedBy>
  <cp:revision>120</cp:revision>
  <dcterms:created xsi:type="dcterms:W3CDTF">2019-05-31T06:38:44Z</dcterms:created>
  <dcterms:modified xsi:type="dcterms:W3CDTF">2026-05-24T16:35:03Z</dcterms:modified>
</cp:coreProperties>
</file>