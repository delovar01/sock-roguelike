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5" r:id="rId4"/>
    <p:sldId id="264" r:id="rId5"/>
    <p:sldId id="266" r:id="rId6"/>
    <p:sldId id="268" r:id="rId7"/>
    <p:sldId id="267" r:id="rId8"/>
    <p:sldId id="269" r:id="rId9"/>
    <p:sldId id="272" r:id="rId10"/>
    <p:sldId id="273" r:id="rId11"/>
    <p:sldId id="270" r:id="rId12"/>
    <p:sldId id="27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r="1"/>
          <a:stretch/>
        </p:blipFill>
        <p:spPr>
          <a:xfrm>
            <a:off x="0" y="0"/>
            <a:ext cx="12149211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</p:spPr>
      </p:pic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629724"/>
              </p:ext>
            </p:extLst>
          </p:nvPr>
        </p:nvGraphicFramePr>
        <p:xfrm>
          <a:off x="10103851" y="440000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3084412" imgH="1354813" progId="CorelDraw.Graphic.22">
                  <p:embed/>
                </p:oleObj>
              </mc:Choice>
              <mc:Fallback>
                <p:oleObj name="CorelDRAW" r:id="rId4" imgW="3084412" imgH="1354813" progId="CorelDraw.Graphic.22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03851" y="440000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Носок-одиночка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499408" y="4798350"/>
            <a:ext cx="496052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Выполнил: Павленко Степан Андреевич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t>Группа: РИ-150932</a:t>
            </a:r>
          </a:p>
          <a:p>
            <a:endParaRPr/>
          </a:p>
          <a:p>
            <a:r>
              <a:t>Преподаватель: Стрельцов В.В.</a:t>
            </a: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305449"/>
              </p:ext>
            </p:extLst>
          </p:nvPr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293EF-572C-7200-2803-E8F23973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Основная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2508F-162E-E2EE-401C-C5CC093E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pPr marL="0" indent="0">
              <a:buNone/>
            </a:pPr>
            <a:r>
              <a:rPr sz="1800" dirty="0"/>
              <a:t>Top-down roguelike </a:t>
            </a:r>
            <a:r>
              <a:rPr sz="1800" dirty="0" err="1"/>
              <a:t>на</a:t>
            </a:r>
            <a:r>
              <a:rPr sz="1800" dirty="0"/>
              <a:t> Python + </a:t>
            </a:r>
            <a:r>
              <a:rPr sz="1800" dirty="0" err="1"/>
              <a:t>pygame</a:t>
            </a:r>
            <a:r>
              <a:rPr sz="1800" dirty="0"/>
              <a:t>.</a:t>
            </a:r>
          </a:p>
          <a:p>
            <a:pPr marL="0" indent="0">
              <a:buNone/>
            </a:pPr>
            <a:r>
              <a:rPr sz="1800" dirty="0" err="1"/>
              <a:t>Носок</a:t>
            </a:r>
            <a:r>
              <a:rPr sz="1800" dirty="0"/>
              <a:t> </a:t>
            </a:r>
            <a:r>
              <a:rPr sz="1800" dirty="0" err="1"/>
              <a:t>потерял</a:t>
            </a:r>
            <a:r>
              <a:rPr sz="1800" dirty="0"/>
              <a:t> </a:t>
            </a:r>
            <a:r>
              <a:rPr sz="1800" dirty="0" err="1"/>
              <a:t>свою</a:t>
            </a:r>
            <a:r>
              <a:rPr sz="1800" dirty="0"/>
              <a:t> </a:t>
            </a:r>
            <a:r>
              <a:rPr sz="1800" dirty="0" err="1"/>
              <a:t>пару</a:t>
            </a:r>
            <a:r>
              <a:rPr sz="1800" dirty="0"/>
              <a:t> </a:t>
            </a:r>
            <a:r>
              <a:rPr sz="1800" dirty="0" err="1"/>
              <a:t>во</a:t>
            </a:r>
            <a:r>
              <a:rPr sz="1800" dirty="0"/>
              <a:t> </a:t>
            </a:r>
            <a:r>
              <a:rPr sz="1800" dirty="0" err="1"/>
              <a:t>время</a:t>
            </a:r>
            <a:r>
              <a:rPr sz="1800" dirty="0"/>
              <a:t> </a:t>
            </a:r>
            <a:r>
              <a:rPr sz="1800" dirty="0" err="1"/>
              <a:t>стирки</a:t>
            </a:r>
            <a:r>
              <a:rPr sz="1800" dirty="0"/>
              <a:t> и </a:t>
            </a:r>
            <a:r>
              <a:rPr sz="1800" dirty="0" err="1"/>
              <a:t>провалился</a:t>
            </a:r>
            <a:r>
              <a:rPr lang="ru-RU" sz="1800" dirty="0"/>
              <a:t> </a:t>
            </a:r>
            <a:r>
              <a:rPr sz="1800" dirty="0"/>
              <a:t>в </a:t>
            </a:r>
            <a:r>
              <a:rPr sz="1800" dirty="0" err="1"/>
              <a:t>лабиринт</a:t>
            </a:r>
            <a:r>
              <a:rPr sz="1800" dirty="0"/>
              <a:t> </a:t>
            </a:r>
            <a:r>
              <a:rPr sz="1800" dirty="0" err="1"/>
              <a:t>труб</a:t>
            </a:r>
            <a:r>
              <a:rPr sz="1800" dirty="0"/>
              <a:t> </a:t>
            </a:r>
            <a:r>
              <a:rPr sz="1800" dirty="0" err="1"/>
              <a:t>стиральной</a:t>
            </a:r>
            <a:r>
              <a:rPr sz="1800" dirty="0"/>
              <a:t> </a:t>
            </a:r>
            <a:r>
              <a:rPr sz="1800" dirty="0" err="1"/>
              <a:t>машины</a:t>
            </a:r>
            <a:r>
              <a:rPr sz="1800" dirty="0"/>
              <a:t>.</a:t>
            </a:r>
          </a:p>
          <a:p>
            <a:pPr marL="0" indent="0">
              <a:buNone/>
            </a:pPr>
            <a:r>
              <a:rPr sz="1800" dirty="0" err="1"/>
              <a:t>Жанр</a:t>
            </a:r>
            <a:r>
              <a:rPr sz="1800" dirty="0"/>
              <a:t>: roguelike с </a:t>
            </a:r>
            <a:r>
              <a:rPr sz="1800" dirty="0" err="1"/>
              <a:t>видом</a:t>
            </a:r>
            <a:r>
              <a:rPr sz="1800" dirty="0"/>
              <a:t> </a:t>
            </a:r>
            <a:r>
              <a:rPr sz="1800" dirty="0" err="1"/>
              <a:t>сверху</a:t>
            </a:r>
            <a:endParaRPr sz="1800" dirty="0"/>
          </a:p>
          <a:p>
            <a:pPr marL="0" indent="0">
              <a:buNone/>
            </a:pPr>
            <a:r>
              <a:rPr sz="1800" dirty="0" err="1"/>
              <a:t>Цель</a:t>
            </a:r>
            <a:r>
              <a:rPr sz="1800" dirty="0"/>
              <a:t> </a:t>
            </a:r>
            <a:r>
              <a:rPr sz="1800" dirty="0" err="1"/>
              <a:t>игрока</a:t>
            </a:r>
            <a:r>
              <a:rPr sz="1800" dirty="0"/>
              <a:t>: </a:t>
            </a:r>
            <a:r>
              <a:rPr sz="1800" dirty="0" err="1"/>
              <a:t>пройти</a:t>
            </a:r>
            <a:r>
              <a:rPr sz="1800" dirty="0"/>
              <a:t> 5 </a:t>
            </a:r>
            <a:r>
              <a:rPr sz="1800" dirty="0" err="1"/>
              <a:t>уровней</a:t>
            </a:r>
            <a:r>
              <a:rPr sz="1800" dirty="0"/>
              <a:t> и </a:t>
            </a:r>
            <a:r>
              <a:rPr sz="1800" dirty="0" err="1"/>
              <a:t>найти</a:t>
            </a:r>
            <a:r>
              <a:rPr sz="1800" dirty="0"/>
              <a:t> </a:t>
            </a:r>
            <a:r>
              <a:rPr sz="1800" dirty="0" err="1"/>
              <a:t>пару</a:t>
            </a:r>
            <a:r>
              <a:rPr sz="1800" dirty="0"/>
              <a:t> </a:t>
            </a:r>
            <a:r>
              <a:rPr sz="1800" dirty="0" err="1"/>
              <a:t>носка</a:t>
            </a:r>
            <a:endParaRPr sz="1800" dirty="0"/>
          </a:p>
          <a:p>
            <a:pPr marL="0" indent="0">
              <a:buNone/>
            </a:pPr>
            <a:r>
              <a:rPr sz="1800" dirty="0" err="1"/>
              <a:t>Главное</a:t>
            </a:r>
            <a:r>
              <a:rPr sz="1800" dirty="0"/>
              <a:t> </a:t>
            </a:r>
            <a:r>
              <a:rPr sz="1800" dirty="0" err="1"/>
              <a:t>действие</a:t>
            </a:r>
            <a:r>
              <a:rPr sz="1800" dirty="0"/>
              <a:t>: </a:t>
            </a:r>
            <a:r>
              <a:rPr sz="1800" dirty="0" err="1"/>
              <a:t>ходить</a:t>
            </a:r>
            <a:r>
              <a:rPr sz="1800" dirty="0"/>
              <a:t> </a:t>
            </a:r>
            <a:r>
              <a:rPr sz="1800" dirty="0" err="1"/>
              <a:t>по</a:t>
            </a:r>
            <a:r>
              <a:rPr sz="1800" dirty="0"/>
              <a:t> </a:t>
            </a:r>
            <a:r>
              <a:rPr sz="1800" dirty="0" err="1"/>
              <a:t>подземелью</a:t>
            </a:r>
            <a:r>
              <a:rPr sz="1800" dirty="0"/>
              <a:t>, </a:t>
            </a:r>
            <a:r>
              <a:rPr sz="1800" dirty="0" err="1"/>
              <a:t>собирать</a:t>
            </a:r>
            <a:r>
              <a:rPr sz="1800" dirty="0"/>
              <a:t> </a:t>
            </a:r>
            <a:r>
              <a:rPr sz="1800" dirty="0" err="1"/>
              <a:t>предметы</a:t>
            </a:r>
            <a:r>
              <a:rPr sz="1800" dirty="0"/>
              <a:t>,</a:t>
            </a:r>
            <a:r>
              <a:rPr lang="ru-RU" sz="1800" dirty="0"/>
              <a:t> </a:t>
            </a:r>
            <a:r>
              <a:rPr sz="1800" dirty="0" err="1"/>
              <a:t>драться</a:t>
            </a:r>
            <a:r>
              <a:rPr sz="1800" dirty="0"/>
              <a:t> с </a:t>
            </a:r>
            <a:r>
              <a:rPr sz="1800" dirty="0" err="1"/>
              <a:t>молью</a:t>
            </a:r>
            <a:r>
              <a:rPr sz="1800" dirty="0"/>
              <a:t> и </a:t>
            </a:r>
            <a:r>
              <a:rPr sz="1800" dirty="0" err="1"/>
              <a:t>пауками</a:t>
            </a:r>
            <a:endParaRPr sz="1800" dirty="0"/>
          </a:p>
          <a:p>
            <a:pPr marL="0" indent="0">
              <a:buNone/>
            </a:pPr>
            <a:r>
              <a:rPr sz="1800" dirty="0" err="1"/>
              <a:t>Фишка</a:t>
            </a:r>
            <a:r>
              <a:rPr sz="1800" dirty="0"/>
              <a:t>: </a:t>
            </a:r>
            <a:r>
              <a:rPr sz="1800" dirty="0" err="1"/>
              <a:t>каждый</a:t>
            </a:r>
            <a:r>
              <a:rPr sz="1800" dirty="0"/>
              <a:t> </a:t>
            </a:r>
            <a:r>
              <a:rPr sz="1800" dirty="0" err="1"/>
              <a:t>уровень</a:t>
            </a:r>
            <a:r>
              <a:rPr sz="1800" dirty="0"/>
              <a:t> </a:t>
            </a:r>
            <a:r>
              <a:rPr sz="1800" dirty="0" err="1"/>
              <a:t>случайно</a:t>
            </a:r>
            <a:r>
              <a:rPr sz="1800" dirty="0"/>
              <a:t> </a:t>
            </a:r>
            <a:r>
              <a:rPr sz="1800" dirty="0" err="1"/>
              <a:t>генерируется</a:t>
            </a:r>
            <a:r>
              <a:rPr sz="1800" dirty="0"/>
              <a:t> (BSP)</a:t>
            </a:r>
          </a:p>
        </p:txBody>
      </p:sp>
    </p:spTree>
    <p:extLst>
      <p:ext uri="{BB962C8B-B14F-4D97-AF65-F5344CB8AC3E}">
        <p14:creationId xmlns:p14="http://schemas.microsoft.com/office/powerpoint/2010/main" val="174244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F76-5A9C-D8C9-28CE-D7F5BD68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FCB8FF8-92B5-63D2-6679-687AFEBAD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F35A129-9FAC-5C5F-D1FE-6A81090AB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A99822-F949-02D9-B8BA-DE31C75DA1F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1626F8-1D38-152E-F7F6-8E86648D30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77095-EC5C-C4B5-9863-1207DFD6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Игровые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F49C4-CDD7-EAD5-2E34-D854D894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r>
              <a:rPr sz="1600"/>
              <a:t>Перемещение по тайлам стрелками или WASD (с автоповтором)</a:t>
            </a:r>
          </a:p>
          <a:p>
            <a:r>
              <a:rPr sz="1600"/>
              <a:t>Bump attack: шагнул на врага = ударил его</a:t>
            </a:r>
          </a:p>
          <a:p>
            <a:r>
              <a:rPr sz="1600"/>
              <a:t>Атака пробелом: удар во все 4 соседние клетки</a:t>
            </a:r>
          </a:p>
          <a:p>
            <a:r>
              <a:rPr sz="1600"/>
              <a:t>Враги двух типов: моль (живучая) и паук (быстрый, хрупкий)</a:t>
            </a:r>
          </a:p>
          <a:p>
            <a:r>
              <a:rPr sz="1600"/>
              <a:t>Предметы: пуговица (+HP), иголка (+урон), ключ (открывает выход)</a:t>
            </a:r>
          </a:p>
          <a:p>
            <a:r>
              <a:rPr sz="1600"/>
              <a:t>На каждом уровне нужно найти ключ — без него выход закрыт</a:t>
            </a:r>
          </a:p>
          <a:p>
            <a:r>
              <a:rPr sz="1600"/>
              <a:t>Сохранения в JSON, авто-сейв на старте уровня</a:t>
            </a:r>
          </a:p>
          <a:p>
            <a:r>
              <a:rPr sz="1600"/>
              <a:t>Очки за подобранное и убитых врагов</a:t>
            </a:r>
          </a:p>
          <a:p>
            <a:r>
              <a:rPr sz="1600"/>
              <a:t>Подсветка факелом: видно только круг вокруг игрока</a:t>
            </a:r>
          </a:p>
        </p:txBody>
      </p:sp>
    </p:spTree>
    <p:extLst>
      <p:ext uri="{BB962C8B-B14F-4D97-AF65-F5344CB8AC3E}">
        <p14:creationId xmlns:p14="http://schemas.microsoft.com/office/powerpoint/2010/main" val="153334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EE61-5ADC-0CCE-37C8-97D0EEEB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F35A129-9FAC-5C5F-D1FE-6A81090AB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A679F0-6BD3-1DB2-666D-AA1F7C51665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5894C0-241B-5C7C-A66F-CEE1A6BF12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30D63-8051-4386-5ECF-CB3601C5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 fontScale="85000" lnSpcReduction="20000"/>
          </a:bodyPr>
          <a:lstStyle/>
          <a:p>
            <a:r>
              <a:rPr sz="1600"/>
              <a:t>Функциональные:</a:t>
            </a:r>
          </a:p>
          <a:p>
            <a:r>
              <a:rPr sz="1600"/>
              <a:t>    меню — Новая игра / Продолжить / Выход</a:t>
            </a:r>
          </a:p>
          <a:p>
            <a:r>
              <a:rPr sz="1600"/>
              <a:t>    5 уровней с процедурной генерацией</a:t>
            </a:r>
          </a:p>
          <a:p>
            <a:r>
              <a:rPr sz="1600"/>
              <a:t>    враги с поведением через конечный автомат</a:t>
            </a:r>
          </a:p>
          <a:p>
            <a:r>
              <a:rPr sz="1600"/>
              <a:t>    сохранение и загрузка прогресса</a:t>
            </a:r>
          </a:p>
          <a:p>
            <a:r>
              <a:rPr sz="1600"/>
              <a:t>    подбираемые предметы с разным действием</a:t>
            </a:r>
          </a:p>
          <a:p>
            <a:endParaRPr sz="1600"/>
          </a:p>
          <a:p>
            <a:r>
              <a:rPr sz="1600"/>
              <a:t>Технические:</a:t>
            </a:r>
          </a:p>
          <a:p>
            <a:r>
              <a:rPr sz="1600"/>
              <a:t>    60 кадров в секунду</a:t>
            </a:r>
          </a:p>
          <a:p>
            <a:r>
              <a:rPr sz="1600"/>
              <a:t>    карта 50×36 тайлов, тайл = 32 пикселя</a:t>
            </a:r>
          </a:p>
          <a:p>
            <a:r>
              <a:rPr sz="1600"/>
              <a:t>    графика — цветные прямоугольники (по рекомендации методички)</a:t>
            </a:r>
          </a:p>
          <a:p>
            <a:endParaRPr sz="1600"/>
          </a:p>
          <a:p>
            <a:r>
              <a:rPr sz="1600"/>
              <a:t>Что не включено: спрайтовая графика, мультиплеер</a:t>
            </a:r>
          </a:p>
        </p:txBody>
      </p:sp>
    </p:spTree>
    <p:extLst>
      <p:ext uri="{BB962C8B-B14F-4D97-AF65-F5344CB8AC3E}">
        <p14:creationId xmlns:p14="http://schemas.microsoft.com/office/powerpoint/2010/main" val="51321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2255-3F4F-34F6-FF63-9E9EE34C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FA781BD-0E50-F689-1C99-F7DD3A0E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FCB8FF8-92B5-63D2-6679-687AFEBAD5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C66736-B908-7604-DCF8-3A5D8197945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854CE2-6A4C-E602-B410-D63168E8B9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A5246-CC82-FC30-856D-EB3D123B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Архитектура. Общий обзор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C2B48-41A4-EC75-580C-AC098442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r>
              <a:rPr sz="1600"/>
              <a:t>Подход — MVC-подобная архитектура с разделением по системам.</a:t>
            </a:r>
          </a:p>
          <a:p>
            <a:r>
              <a:rPr sz="1600"/>
              <a:t>Каждый класс отвечает за одно (Single Responsibility).</a:t>
            </a:r>
          </a:p>
          <a:p>
            <a:endParaRPr sz="1600"/>
          </a:p>
          <a:p>
            <a:r>
              <a:rPr sz="1600"/>
              <a:t>Game — главный объект, держит игровой цикл и активную сцену</a:t>
            </a:r>
          </a:p>
          <a:p>
            <a:r>
              <a:rPr sz="1600"/>
              <a:t>BaseScene — узкий интерфейс из 3 методов</a:t>
            </a:r>
          </a:p>
          <a:p>
            <a:r>
              <a:rPr sz="1600"/>
              <a:t>Entity — базовый класс для всего в мире (Player, Enemy, Item)</a:t>
            </a:r>
          </a:p>
          <a:p>
            <a:r>
              <a:rPr sz="1600"/>
              <a:t>Systems — отдельные классы: Movement, Collision, AI, Render</a:t>
            </a:r>
          </a:p>
          <a:p>
            <a:r>
              <a:rPr sz="1600"/>
              <a:t>EventBus — паттерн Observer для слабой связи подсистем</a:t>
            </a:r>
          </a:p>
          <a:p>
            <a:r>
              <a:rPr sz="1600"/>
              <a:t>ResourceManager — кеш звуков и шрифтов</a:t>
            </a:r>
          </a:p>
          <a:p>
            <a:endParaRPr sz="1600"/>
          </a:p>
          <a:p>
            <a:r>
              <a:rPr sz="1600"/>
              <a:t>Почему так: чтобы избежать God Object — типовой ошибки из методички</a:t>
            </a:r>
          </a:p>
        </p:txBody>
      </p:sp>
    </p:spTree>
    <p:extLst>
      <p:ext uri="{BB962C8B-B14F-4D97-AF65-F5344CB8AC3E}">
        <p14:creationId xmlns:p14="http://schemas.microsoft.com/office/powerpoint/2010/main" val="234634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B2D4-A8EB-9580-233D-F445FE0D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9626BCC6-EAF0-EC4C-C799-798976F0F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4097C8D-6A62-ACE3-097B-27087E8D0F1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4913DE-E977-804E-2320-58743AB818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C7D7-B27A-6AA8-5443-3FCCB2FA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A4550-C5C9-D41E-CAB2-0898A9FC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 fontScale="77500" lnSpcReduction="20000"/>
          </a:bodyPr>
          <a:lstStyle/>
          <a:p>
            <a:r>
              <a:rPr sz="1500"/>
              <a:t>src/core/ — игровой цикл, события, ввод, ресурсы</a:t>
            </a:r>
          </a:p>
          <a:p>
            <a:r>
              <a:rPr sz="1500"/>
              <a:t>src/scenes/ — экраны (меню, игра, смерть, победа)</a:t>
            </a:r>
          </a:p>
          <a:p>
            <a:r>
              <a:rPr sz="1500"/>
              <a:t>src/entities/ — игровые объекты</a:t>
            </a:r>
          </a:p>
          <a:p>
            <a:r>
              <a:rPr sz="1500"/>
              <a:t>src/systems/ — логика (movement, collision, ai, render)</a:t>
            </a:r>
          </a:p>
          <a:p>
            <a:r>
              <a:rPr sz="1500"/>
              <a:t>src/algorithms/ — BSP-генерация и A*</a:t>
            </a:r>
          </a:p>
          <a:p>
            <a:r>
              <a:rPr sz="1500"/>
              <a:t>src/world/ — карта, тайлы, камера</a:t>
            </a:r>
          </a:p>
          <a:p>
            <a:r>
              <a:rPr sz="1500"/>
              <a:t>src/ui/ — меню и HUD</a:t>
            </a:r>
          </a:p>
          <a:p>
            <a:r>
              <a:rPr sz="1500"/>
              <a:t>src/persistence/ — сохранения JSON</a:t>
            </a:r>
          </a:p>
          <a:p>
            <a:endParaRPr sz="1500"/>
          </a:p>
          <a:p>
            <a:r>
              <a:rPr sz="1500"/>
              <a:t>Дополнительно: assets/, tests/, docs/, levels/, saves/</a:t>
            </a:r>
          </a:p>
        </p:txBody>
      </p:sp>
      <p:pic>
        <p:nvPicPr>
          <p:cNvPr id="13" name="Picture 12" descr="uml_class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011680"/>
            <a:ext cx="4023360" cy="25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3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979E-5339-F9BD-363A-E5F237C6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EC5BE12-4B18-A41C-B320-790F62769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F6FE215-7872-131B-1412-4F663C1C19C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153B6A-31B2-DD4D-78A2-EFDF5D012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02C8-6F66-9532-62EA-4CADE0E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Алгоритм 1. BSP-генерация подземелья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F4FD9-0BE5-2D0C-408F-4DE8EEEA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sz="1400"/>
              <a:t>Зачем: процедурная генерация уровней для рогалика</a:t>
            </a:r>
            <a:endParaRPr lang="ru-RU" dirty="0"/>
          </a:p>
          <a:p>
            <a:r>
              <a:rPr sz="1400"/>
              <a:t>Где: src/algorithms/bsp_dungeon.py</a:t>
            </a:r>
          </a:p>
          <a:p>
            <a:endParaRPr sz="1400"/>
          </a:p>
          <a:p>
            <a:r>
              <a:rPr sz="1400"/>
              <a:t>Этапы:</a:t>
            </a:r>
          </a:p>
          <a:p>
            <a:r>
              <a:rPr sz="1400"/>
              <a:t>    1. Рекурсивно делим пространство на прямоугольники</a:t>
            </a:r>
          </a:p>
          <a:p>
            <a:r>
              <a:rPr sz="1400"/>
              <a:t>    2. В каждом листе дерева размещаем комнату</a:t>
            </a:r>
          </a:p>
          <a:p>
            <a:r>
              <a:rPr sz="1400"/>
              <a:t>    3. Переносим комнаты на сетку (это пол)</a:t>
            </a:r>
          </a:p>
          <a:p>
            <a:r>
              <a:rPr sz="1400"/>
              <a:t>    4. Соединяем соседние комнаты L-коридорами</a:t>
            </a:r>
          </a:p>
          <a:p>
            <a:endParaRPr sz="1400"/>
          </a:p>
          <a:p>
            <a:r>
              <a:rPr sz="1400"/>
              <a:t>Вход: width, height, seed</a:t>
            </a:r>
          </a:p>
          <a:p>
            <a:r>
              <a:rPr sz="1400"/>
              <a:t>Выход: сетка тайлов, точка старта, точка выхода</a:t>
            </a:r>
          </a:p>
          <a:p>
            <a:r>
              <a:rPr sz="1400"/>
              <a:t>Сложность по времени и памяти: O(n), где n = width × height</a:t>
            </a:r>
          </a:p>
          <a:p>
            <a:r>
              <a:rPr sz="1400"/>
              <a:t>Тот же seed даёт ту же карту (детерминизм)</a:t>
            </a:r>
          </a:p>
        </p:txBody>
      </p:sp>
      <p:pic>
        <p:nvPicPr>
          <p:cNvPr id="13" name="Picture 12" descr="screen_g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383280"/>
            <a:ext cx="3840480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5BB3-6308-F18C-D1C9-0AED248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EC5BE12-4B18-A41C-B320-790F62769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Алгоритм 2. A* поиск пути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467CB-2E61-E50E-D9FE-0F1D677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 fontScale="92500"/>
          </a:bodyPr>
          <a:lstStyle/>
          <a:p>
            <a:r>
              <a:rPr sz="1400"/>
              <a:t>Зачем: моль должна догонять игрока, обходя стены</a:t>
            </a:r>
          </a:p>
          <a:p>
            <a:r>
              <a:rPr sz="1400"/>
              <a:t>Где: src/algorithms/a_star.py</a:t>
            </a:r>
          </a:p>
          <a:p>
            <a:endParaRPr sz="1400"/>
          </a:p>
          <a:p>
            <a:r>
              <a:rPr sz="1400"/>
              <a:t>Идея: добавили подсказку h к Дейкстре. Берём вершины с минимальным f = g + h.</a:t>
            </a:r>
          </a:p>
          <a:p>
            <a:r>
              <a:rPr sz="1400"/>
              <a:t>h — манхэттенское расстояние до цели</a:t>
            </a:r>
          </a:p>
          <a:p>
            <a:r>
              <a:rPr sz="1400"/>
              <a:t>g — реальная стоимость пути от старта</a:t>
            </a:r>
          </a:p>
          <a:p>
            <a:r>
              <a:rPr sz="1400"/>
              <a:t>Очередь: heapq</a:t>
            </a:r>
          </a:p>
          <a:p>
            <a:endParaRPr sz="1400"/>
          </a:p>
          <a:p>
            <a:r>
              <a:rPr sz="1400"/>
              <a:t>Сложность: O(E log V), где V — клетки, E — переходы</a:t>
            </a:r>
          </a:p>
          <a:p>
            <a:r>
              <a:rPr sz="1400"/>
              <a:t>Почему не Дейкстра: она расширяет волну во все стороны,</a:t>
            </a:r>
          </a:p>
          <a:p>
            <a:r>
              <a:rPr sz="1400"/>
              <a:t>а A* направляет её к цели — быстрее</a:t>
            </a:r>
          </a:p>
        </p:txBody>
      </p:sp>
      <p:pic>
        <p:nvPicPr>
          <p:cNvPr id="13" name="Picture 12" descr="screen_de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200400"/>
            <a:ext cx="3840480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EED6-D0B8-D5CD-082A-8722BAB2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E090C4F-2E47-D1A8-EF05-DBE850FBF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BDE051-C0CB-1C98-140F-5C8DF0E2D64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962C45-51B6-894A-B9BD-1ABCA4305B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FD9C1-9E41-AE05-D8F0-204A5273E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Алгоритм 3. FSM врага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CF49F-3DE2-96F7-3CB5-21C21A7E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/>
          </a:bodyPr>
          <a:lstStyle/>
          <a:p>
            <a:r>
              <a:rPr sz="1400"/>
              <a:t>Конечный автомат для поведения моли</a:t>
            </a:r>
          </a:p>
          <a:p>
            <a:r>
              <a:rPr sz="1400"/>
              <a:t>Файл: src/entities/enemy.py</a:t>
            </a:r>
          </a:p>
          <a:p>
            <a:endParaRPr sz="1400"/>
          </a:p>
          <a:p>
            <a:r>
              <a:rPr sz="1400"/>
              <a:t>Состояния: PATROL, CHASE, RETURN</a:t>
            </a:r>
          </a:p>
          <a:p>
            <a:endParaRPr sz="1400"/>
          </a:p>
          <a:p>
            <a:r>
              <a:rPr sz="1400"/>
              <a:t>Переходы:</a:t>
            </a:r>
          </a:p>
          <a:p>
            <a:r>
              <a:rPr sz="1400"/>
              <a:t>    PATROL → CHASE если дистанция ≤ 5 клеток (DETECT_RADIUS)</a:t>
            </a:r>
          </a:p>
          <a:p>
            <a:r>
              <a:rPr sz="1400"/>
              <a:t>    CHASE → RETURN если дистанция &gt; 8 клеток (LOSE_RADIUS)</a:t>
            </a:r>
          </a:p>
          <a:p>
            <a:r>
              <a:rPr sz="1400"/>
              <a:t>    RETURN → PATROL когда дошёл до waypoint</a:t>
            </a:r>
          </a:p>
          <a:p>
            <a:endParaRPr sz="1400"/>
          </a:p>
          <a:p>
            <a:r>
              <a:rPr sz="1400"/>
              <a:t>Гистерезис: радиусы 5 и 8 разные специально,</a:t>
            </a:r>
          </a:p>
          <a:p>
            <a:r>
              <a:rPr sz="1400"/>
              <a:t>чтобы враг не дёргался между состояниями на границе</a:t>
            </a:r>
          </a:p>
          <a:p>
            <a:endParaRPr sz="1400"/>
          </a:p>
          <a:p>
            <a:r>
              <a:rPr sz="1400"/>
              <a:t>A* вызывается только в CHASE, не чаще раз в 0.25 секунды</a:t>
            </a:r>
          </a:p>
        </p:txBody>
      </p:sp>
    </p:spTree>
    <p:extLst>
      <p:ext uri="{BB962C8B-B14F-4D97-AF65-F5344CB8AC3E}">
        <p14:creationId xmlns:p14="http://schemas.microsoft.com/office/powerpoint/2010/main" val="32646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644A-F5BC-A5C6-0EA7-46CE1524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DC60564-F4BE-5F52-DF5A-F58C422C64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E090C4F-2E47-D1A8-EF05-DBE850FBF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86D2AF-E848-0A55-4FFE-D1DFCB79BB6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B9400B-51BC-1223-A981-1E4D53765E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1CE5C-AC8B-0A3A-4D0D-212A07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19954-C002-A155-84FB-D478D2F6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>
            <a:normAutofit/>
          </a:bodyPr>
          <a:lstStyle/>
          <a:p>
            <a:r>
              <a:rPr sz="1500"/>
              <a:t>27 тестов в 8 файлах pytest, проходят за ~1 секунду</a:t>
            </a:r>
          </a:p>
          <a:p>
            <a:endParaRPr sz="1500"/>
          </a:p>
          <a:p>
            <a:r>
              <a:rPr sz="1500"/>
              <a:t>test_bsp.py (4) — размер сетки, детерминизм, связность</a:t>
            </a:r>
          </a:p>
          <a:p>
            <a:r>
              <a:rPr sz="1500"/>
              <a:t>test_a_star.py (4) — путь, обход стен, недостижимая цель, эвристика</a:t>
            </a:r>
          </a:p>
          <a:p>
            <a:r>
              <a:rPr sz="1500"/>
              <a:t>test_collision.py (5) — стена, пуговица, иголка, атака, bump</a:t>
            </a:r>
          </a:p>
          <a:p>
            <a:r>
              <a:rPr sz="1500"/>
              <a:t>test_save_manager.py (3) — save/load, отсутствующий файл</a:t>
            </a:r>
          </a:p>
          <a:p>
            <a:r>
              <a:rPr sz="1500"/>
              <a:t>test_player.py (3) — урон, не уходит ниже 0, hp read-only</a:t>
            </a:r>
          </a:p>
          <a:p>
            <a:r>
              <a:rPr sz="1500"/>
              <a:t>test_fsm.py (3) — переходы автомата</a:t>
            </a:r>
          </a:p>
          <a:p>
            <a:r>
              <a:rPr sz="1500"/>
              <a:t>test_level.py (2) — is_walkable, защита от out-of-bounds</a:t>
            </a:r>
          </a:p>
          <a:p>
            <a:r>
              <a:rPr sz="1500"/>
              <a:t>test_constants.py (2) — sanity check</a:t>
            </a:r>
          </a:p>
          <a:p>
            <a:endParaRPr sz="1500"/>
          </a:p>
          <a:p>
            <a:r>
              <a:rPr sz="1500"/>
              <a:t>Что НЕ тестируем: визуальный рендеринг — проверяется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396108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1554-D17B-1FA6-E9DD-A9CC3F14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2B2166BC-B661-48DF-CF5E-1A7C34C4A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337E39-69E8-924A-9D20-00419796C7A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A02D85-4A69-5F54-F4EC-3E4695B576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064E9-C144-FCDC-5144-3B556B48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89F02-A522-3420-4DA1-75B659C7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r>
              <a:rPr sz="1600"/>
              <a:t>Python 3.12 — основной язык</a:t>
            </a:r>
          </a:p>
          <a:p>
            <a:r>
              <a:rPr sz="1600"/>
              <a:t>pygame 2.5.2 — окно, отрисовка, события, звук</a:t>
            </a:r>
          </a:p>
          <a:p>
            <a:r>
              <a:rPr sz="1600"/>
              <a:t>pytest 8.0 — тесты</a:t>
            </a:r>
          </a:p>
          <a:p>
            <a:r>
              <a:rPr sz="1600"/>
              <a:t>JSON (стандартная библиотека) — формат сохранений</a:t>
            </a:r>
          </a:p>
          <a:p>
            <a:r>
              <a:rPr sz="1600"/>
              <a:t>Git + GitHub — контроль версий</a:t>
            </a:r>
          </a:p>
          <a:p>
            <a:r>
              <a:rPr sz="1600"/>
              <a:t>PlantUML — диаграммы классов и FSM</a:t>
            </a:r>
          </a:p>
          <a:p>
            <a:r>
              <a:rPr sz="1600"/>
              <a:t>VS Code — среда разработки</a:t>
            </a:r>
          </a:p>
          <a:p>
            <a:endParaRPr sz="1600"/>
          </a:p>
          <a:p>
            <a:r>
              <a:rPr sz="1600"/>
              <a:t>Графика и звук:</a:t>
            </a:r>
          </a:p>
          <a:p>
            <a:r>
              <a:rPr sz="1600"/>
              <a:t>    цветные прямоугольники вместо спрайтов</a:t>
            </a:r>
          </a:p>
          <a:p>
            <a:r>
              <a:rPr sz="1600"/>
              <a:t>    звуки — короткие WAV (pickup, hit, death, win)</a:t>
            </a:r>
          </a:p>
          <a:p>
            <a:r>
              <a:rPr sz="1600"/>
              <a:t>    фоновая loop-музыка</a:t>
            </a:r>
          </a:p>
        </p:txBody>
      </p:sp>
    </p:spTree>
    <p:extLst>
      <p:ext uri="{BB962C8B-B14F-4D97-AF65-F5344CB8AC3E}">
        <p14:creationId xmlns:p14="http://schemas.microsoft.com/office/powerpoint/2010/main" val="379208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DB5F-4704-1D5F-F383-245676E2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20ED58C-1B95-1444-E59E-4F718F570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2B2166BC-B661-48DF-CF5E-1A7C34C4A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F701D7-28D9-8D28-BD2B-E6B31B94436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6B09C8-2C4E-42FC-CFD9-8F5D670206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392EF-D1E2-FF9F-F559-6E0E94F1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История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2B7E19-8852-C547-C06C-C5EF1EB4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r>
              <a:rPr sz="1400"/>
              <a:t>Репозиторий: https://github.com/delovar01/sock-roguelike</a:t>
            </a:r>
          </a:p>
          <a:p>
            <a:r>
              <a:rPr sz="1400"/>
              <a:t>Больше 30 коммитов за месяц</a:t>
            </a:r>
          </a:p>
          <a:p>
            <a:endParaRPr sz="1400"/>
          </a:p>
          <a:p>
            <a:r>
              <a:rPr sz="1400"/>
              <a:t>Хронология:</a:t>
            </a:r>
          </a:p>
          <a:p>
            <a:r>
              <a:rPr sz="1400"/>
              <a:t>конец апреля — pygame, окно, движение квадратика</a:t>
            </a:r>
          </a:p>
          <a:p>
            <a:r>
              <a:rPr sz="1400"/>
              <a:t>начало мая — разделение на сцены, базовые классы</a:t>
            </a:r>
          </a:p>
          <a:p>
            <a:r>
              <a:rPr sz="1400"/>
              <a:t>середина мая — BSP-генерация (несколько подходов, был revert)</a:t>
            </a:r>
          </a:p>
          <a:p>
            <a:r>
              <a:rPr sz="1400"/>
              <a:t>                          враги, A*, конечный автомат</a:t>
            </a:r>
          </a:p>
          <a:p>
            <a:r>
              <a:rPr sz="1400"/>
              <a:t>конец мая — тесты, документация, факел, ключ, очки, баланс</a:t>
            </a:r>
          </a:p>
          <a:p>
            <a:endParaRPr sz="1400"/>
          </a:p>
          <a:p>
            <a:r>
              <a:rPr sz="1400"/>
              <a:t>Сложности: на BSP ушла неделя.</a:t>
            </a:r>
          </a:p>
          <a:p>
            <a:r>
              <a:rPr sz="1400"/>
              <a:t>Самое сложное — соединение комнат коридорами.</a:t>
            </a:r>
          </a:p>
          <a:p>
            <a:r>
              <a:rPr sz="1400"/>
              <a:t>A* пришлось переписывать после первой попытки.</a:t>
            </a:r>
          </a:p>
        </p:txBody>
      </p:sp>
    </p:spTree>
    <p:extLst>
      <p:ext uri="{BB962C8B-B14F-4D97-AF65-F5344CB8AC3E}">
        <p14:creationId xmlns:p14="http://schemas.microsoft.com/office/powerpoint/2010/main" val="4276049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1D69-3770-9DB1-AF50-974FDD3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F95793C-B0D0-BD90-D14B-43EB4571E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20ED58C-1B95-1444-E59E-4F718F570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870481-8EA5-E810-1375-2B0AB19EC07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6CAC4E-8BD5-FBE8-4488-868A589E6B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1AB82-87E4-79ED-5AF3-CAD0CB17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t>Демонстрация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CD893-4888-43D2-469E-019C12E5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 wrap="square"/>
          <a:lstStyle/>
          <a:p>
            <a:r>
              <a:rPr sz="1500"/>
              <a:t>Скриншоты основных экранов и режимов игры.</a:t>
            </a:r>
          </a:p>
          <a:p>
            <a:endParaRPr sz="1500"/>
          </a:p>
          <a:p>
            <a:r>
              <a:rPr sz="1500"/>
              <a:t>Полный код, история коммитов и документация:</a:t>
            </a:r>
          </a:p>
          <a:p>
            <a:r>
              <a:rPr sz="1500"/>
              <a:t>https://github.com/delovar01/sock-roguelike</a:t>
            </a:r>
          </a:p>
        </p:txBody>
      </p:sp>
      <p:pic>
        <p:nvPicPr>
          <p:cNvPr id="13" name="Picture 12" descr="screen_men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77440"/>
            <a:ext cx="4389120" cy="3218688"/>
          </a:xfrm>
          <a:prstGeom prst="rect">
            <a:avLst/>
          </a:prstGeom>
        </p:spPr>
      </p:pic>
      <p:pic>
        <p:nvPicPr>
          <p:cNvPr id="14" name="Picture 13" descr="screen_g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2377440"/>
            <a:ext cx="4389120" cy="3218688"/>
          </a:xfrm>
          <a:prstGeom prst="rect">
            <a:avLst/>
          </a:prstGeom>
        </p:spPr>
      </p:pic>
      <p:pic>
        <p:nvPicPr>
          <p:cNvPr id="15" name="Picture 14" descr="screen_deb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2000"/>
            <a:ext cx="4389120" cy="3218688"/>
          </a:xfrm>
          <a:prstGeom prst="rect">
            <a:avLst/>
          </a:prstGeom>
        </p:spPr>
      </p:pic>
      <p:pic>
        <p:nvPicPr>
          <p:cNvPr id="16" name="Picture 15" descr="screen_pau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4572000"/>
            <a:ext cx="438912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7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1936</TotalTime>
  <Words>1066</Words>
  <Application>Microsoft Office PowerPoint</Application>
  <PresentationFormat>Широкоэкранный</PresentationFormat>
  <Paragraphs>145</Paragraphs>
  <Slides>13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CorelDRAW</vt:lpstr>
      <vt:lpstr>Презентация PowerPoint</vt:lpstr>
      <vt:lpstr>Основная идея</vt:lpstr>
      <vt:lpstr>Игровые механики</vt:lpstr>
      <vt:lpstr>Требования</vt:lpstr>
      <vt:lpstr>Архитектура. Общий обзор</vt:lpstr>
      <vt:lpstr>Структура проекта</vt:lpstr>
      <vt:lpstr>Алгоритм 1. BSP-генерация подземелья</vt:lpstr>
      <vt:lpstr>Алгоритм 2. A* поиск пути</vt:lpstr>
      <vt:lpstr>Алгоритм 3. FSM врага</vt:lpstr>
      <vt:lpstr>Тестирование</vt:lpstr>
      <vt:lpstr>Стек технологий</vt:lpstr>
      <vt:lpstr>История разработки</vt:lpstr>
      <vt:lpstr>Демонстрация результатов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Pavlenko Stepan</cp:lastModifiedBy>
  <cp:revision>121</cp:revision>
  <dcterms:created xsi:type="dcterms:W3CDTF">2019-05-31T06:38:44Z</dcterms:created>
  <dcterms:modified xsi:type="dcterms:W3CDTF">2026-05-28T14:49:42Z</dcterms:modified>
</cp:coreProperties>
</file>